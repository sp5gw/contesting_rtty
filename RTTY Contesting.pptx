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57" r:id="rId9"/>
    <p:sldId id="258" r:id="rId10"/>
    <p:sldId id="264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02E7BE-E567-72D2-A071-0947FD562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08A50C8-EBE4-F695-59AC-169323880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8116597-6A8B-543F-8C4C-24A972083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99F187-857D-707B-4660-9EA294DD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1F6D64-2AD2-82B7-A6B6-551DF44A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848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DAEF05-FED2-B228-D390-8A8B13C5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FDE085-7CEC-4BBB-4539-D50CD8E82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0A7564D-4026-9B7D-CB77-C86567EC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7D9E030-E865-A352-657C-94D60DB4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4B48E3-AAC4-CC3A-9DB4-2DA839CE0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93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355BC4-E8A9-620D-E5AF-D88C93B9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53F0A8F-8382-9394-538E-A5FBD8077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C9D707-8FCB-2F24-0E89-FBF57B6C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DE6BD8-BFA2-0DC2-FA63-81FE6C16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4B3D7C7-1553-85CC-0973-C1FD6809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44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44A3ED-23B1-F434-D7FC-4CA067A1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DDEB4A-2F4B-42B5-0776-CE0AE40D4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D116D76-8B41-4044-5F8C-BB3F74F09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A41176D-E130-67D2-BB36-B2DAEAA2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23DC847-09EB-2490-4ABF-53601BB9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2066ADC-D8E5-F494-74CF-9B756D6A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44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78C40A-FE17-2B9B-4EC1-E566DBF5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A5A3477-1D61-39D3-6D12-5F708D748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CE70195-C1B2-7713-E042-9C1C95608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20BF99B-F6EF-ACDC-E379-5694D63E8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5BC2E79-67EE-C7E4-D873-FC42D3E8D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DEDB10C-CBA9-2692-00C5-E1BC7FC6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58D2D1E-53AB-786B-0756-D9D0F18E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C778698-4B1C-7B3F-DC24-366FB5B2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848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9529D8-6EE0-1AE8-2FDC-D65938B9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CA43636-3166-0B58-DDCE-38912965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DE5CED4-8BC2-C9C5-8B2A-0859EA9C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27FA0B0-47A0-B462-B2C7-5CA63F11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4479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2883482-3EEA-ECFC-2A03-7D067EFF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BB3CEC4-B068-7BF7-CE7F-FB120C7B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4C4CD4E-8161-75A8-01D7-596C42D4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190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82B68F-21A9-B330-18AA-828EEC3F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3038E2-CA6D-6739-166F-C68AB8BD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6F44B2B-2746-B289-B384-AF0D0E75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2502F09-7E2B-5886-28DC-3D460AA6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FC530AA-CDFE-68F1-3129-308722DF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52F03FA-3558-EEA0-BE37-2520C59D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996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9A2B1D-224F-89F9-DB24-8D9BFF7F9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99F5731-6C5C-A63F-A0DC-15566E66AF6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9A602C4-4E88-DFDE-693A-137645020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A21DEB3-D859-EB40-15F7-940DE5C5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0BD349-1F87-BEF2-0F81-7EB00975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946A6B7-0C4D-4F9F-236C-0AEBD64B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859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635FAB-8743-A4A9-7410-F9C12BB7D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5B918C4-E042-55E0-6605-EFB9DDAE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07573C-AC36-73CF-65AA-A15F2AA6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392EE04-7003-9329-30DB-95B1D088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CD05C6E-7113-5F43-EAA7-49265A23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222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0786A55-43B9-BB4E-9CE2-EE47624EE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AF063D7-0F89-F57F-5495-63E5B0F8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B8142D-B12B-EA35-3DAC-5965C19B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B5E174-0A28-4814-2043-77DFEEA8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78F8EDA-FE0E-5833-1DDF-568DBADC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7380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B2B4A2E-2DC7-A5AE-CBE2-C0410B53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B1D37E7-D28F-DF3E-4A25-8919E783C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3C5AD3-DDBE-E251-D971-6ABE484E9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6455B-4721-4966-9404-1C6568076D6E}" type="datetimeFigureOut">
              <a:rPr lang="pl-PL" smtClean="0"/>
              <a:t>18.10.2026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EFBC69D-C556-1769-246D-8BB28B8CF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BFACA2-9C44-A448-43B9-B5A0C7795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24489-0A36-4891-BC58-B2318F75C6B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205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F3F890-869B-ED5E-543E-0B26D2DB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411568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l-PL" sz="4800" dirty="0">
                <a:solidFill>
                  <a:srgbClr val="FFFFFF"/>
                </a:solidFill>
              </a:rPr>
              <a:t>RTTY </a:t>
            </a:r>
            <a:r>
              <a:rPr lang="pl-PL" sz="4800" dirty="0" err="1">
                <a:solidFill>
                  <a:srgbClr val="FFFFFF"/>
                </a:solidFill>
              </a:rPr>
              <a:t>Contesting</a:t>
            </a:r>
            <a:endParaRPr lang="pl-PL" sz="4800" dirty="0">
              <a:solidFill>
                <a:srgbClr val="FFFFFF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62D98C2-C577-E44B-5BF1-F6F1B2A3E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pl-PL">
                <a:solidFill>
                  <a:srgbClr val="FFFFFF"/>
                </a:solidFill>
              </a:rPr>
              <a:t>using Yaesu FT-710, N1MM and MMTTY</a:t>
            </a:r>
            <a:br>
              <a:rPr lang="pl-PL">
                <a:solidFill>
                  <a:srgbClr val="FFFFFF"/>
                </a:solidFill>
              </a:rPr>
            </a:br>
            <a:r>
              <a:rPr lang="pl-PL">
                <a:solidFill>
                  <a:srgbClr val="FFFFFF"/>
                </a:solidFill>
              </a:rPr>
              <a:t>Andrzej Mazur, SP5GW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AF7DD56-D4BD-4182-BBA6-E9D9F4E9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MMTTY Setup (1)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80D0480-24C4-F7F2-53F2-A381FAA10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9285"/>
            <a:ext cx="5608906" cy="383943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2217300-E751-4222-E5AF-C82DD348E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50" y="395288"/>
            <a:ext cx="2828925" cy="25908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FA00DFE-A9F9-3727-F663-E0FDAA61C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25615"/>
            <a:ext cx="5993788" cy="3392292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7B1ED769-EAAA-2734-D342-BFDD91E2F9A5}"/>
              </a:ext>
            </a:extLst>
          </p:cNvPr>
          <p:cNvSpPr txBox="1"/>
          <p:nvPr/>
        </p:nvSpPr>
        <p:spPr>
          <a:xfrm>
            <a:off x="9388575" y="6308209"/>
            <a:ext cx="268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Curtuasy</a:t>
            </a:r>
            <a:r>
              <a:rPr lang="pl-PL">
                <a:solidFill>
                  <a:srgbClr val="FFFFFF"/>
                </a:solidFill>
              </a:rPr>
              <a:t>: Kamil, SP5MTX</a:t>
            </a:r>
          </a:p>
        </p:txBody>
      </p:sp>
    </p:spTree>
    <p:extLst>
      <p:ext uri="{BB962C8B-B14F-4D97-AF65-F5344CB8AC3E}">
        <p14:creationId xmlns:p14="http://schemas.microsoft.com/office/powerpoint/2010/main" val="290626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649FCCB-E4F8-6C16-2589-BE6CFDA6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MMTTY Setup (2)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600F100-1932-1E18-ABC3-15819B04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06" y="1508539"/>
            <a:ext cx="5121666" cy="292407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F891152-44CE-68EC-A71B-A7AB75855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5759"/>
            <a:ext cx="5643628" cy="2936852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D90D5380-7042-70F5-992D-33DDD1DB8DDF}"/>
              </a:ext>
            </a:extLst>
          </p:cNvPr>
          <p:cNvSpPr txBox="1"/>
          <p:nvPr/>
        </p:nvSpPr>
        <p:spPr>
          <a:xfrm>
            <a:off x="9388575" y="6308209"/>
            <a:ext cx="268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Curtuasy</a:t>
            </a:r>
            <a:r>
              <a:rPr lang="pl-PL">
                <a:solidFill>
                  <a:srgbClr val="FFFFFF"/>
                </a:solidFill>
              </a:rPr>
              <a:t>: Kamil, SP5MTX</a:t>
            </a:r>
          </a:p>
        </p:txBody>
      </p:sp>
    </p:spTree>
    <p:extLst>
      <p:ext uri="{BB962C8B-B14F-4D97-AF65-F5344CB8AC3E}">
        <p14:creationId xmlns:p14="http://schemas.microsoft.com/office/powerpoint/2010/main" val="38709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D160D-06F0-7F66-CC99-6EFF8BE7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65582D9-8612-3246-A248-2FC535E3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MMTTY Setup (3)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BC988A0-9D41-3A09-4C36-21B8933B1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59" y="1644968"/>
            <a:ext cx="5161572" cy="3858651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7FF855B3-5187-DC55-B3BB-732C8CDB4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772" y="365125"/>
            <a:ext cx="5749363" cy="14631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4AAF04F-E591-5C83-9BF7-8FC7673F8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91" y="2742754"/>
            <a:ext cx="5763844" cy="3457007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4C19B9C-D4E2-56C1-3685-110790EC627F}"/>
              </a:ext>
            </a:extLst>
          </p:cNvPr>
          <p:cNvSpPr txBox="1"/>
          <p:nvPr/>
        </p:nvSpPr>
        <p:spPr>
          <a:xfrm>
            <a:off x="9388575" y="6308209"/>
            <a:ext cx="268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Curtuasy</a:t>
            </a:r>
            <a:r>
              <a:rPr lang="pl-PL">
                <a:solidFill>
                  <a:srgbClr val="FFFFFF"/>
                </a:solidFill>
              </a:rPr>
              <a:t>: Kamil, SP5MTX</a:t>
            </a:r>
          </a:p>
        </p:txBody>
      </p:sp>
    </p:spTree>
    <p:extLst>
      <p:ext uri="{BB962C8B-B14F-4D97-AF65-F5344CB8AC3E}">
        <p14:creationId xmlns:p14="http://schemas.microsoft.com/office/powerpoint/2010/main" val="257991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60B45C-2682-2610-7F9C-E109B1B3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163954"/>
            <a:ext cx="10515600" cy="13255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Integration FT-710 – MMTTY - N1MM </a:t>
            </a:r>
            <a:r>
              <a:rPr lang="pl-PL" err="1">
                <a:solidFill>
                  <a:srgbClr val="FFFFFF"/>
                </a:solidFill>
              </a:rPr>
              <a:t>Logger</a:t>
            </a:r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E193BB1-BFAE-E0EB-933A-0D9591D05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1" y="1849361"/>
            <a:ext cx="4094552" cy="333880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E69B3F59-80D6-F813-FCCD-734544A2F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896" y="1849360"/>
            <a:ext cx="4092026" cy="3324071"/>
          </a:xfrm>
          <a:prstGeom prst="rect">
            <a:avLst/>
          </a:prstGeom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55AFD07D-AE01-AD71-5E36-10F141C960E0}"/>
              </a:ext>
            </a:extLst>
          </p:cNvPr>
          <p:cNvSpPr/>
          <p:nvPr/>
        </p:nvSpPr>
        <p:spPr>
          <a:xfrm>
            <a:off x="5873592" y="2701109"/>
            <a:ext cx="2130251" cy="4019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556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B34B1-382B-B391-807C-1ABA9D78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1">
            <a:extLst>
              <a:ext uri="{FF2B5EF4-FFF2-40B4-BE49-F238E27FC236}">
                <a16:creationId xmlns:a16="http://schemas.microsoft.com/office/drawing/2014/main" id="{47C1C390-764A-EE1E-E869-28EE94310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ackground 2">
            <a:extLst>
              <a:ext uri="{FF2B5EF4-FFF2-40B4-BE49-F238E27FC236}">
                <a16:creationId xmlns:a16="http://schemas.microsoft.com/office/drawing/2014/main" id="{C17F7BA3-BA2E-F215-7A23-5A115BCB9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ckground 3">
            <a:extLst>
              <a:ext uri="{FF2B5EF4-FFF2-40B4-BE49-F238E27FC236}">
                <a16:creationId xmlns:a16="http://schemas.microsoft.com/office/drawing/2014/main" id="{091EB2F1-D85C-61DB-19E8-26D66136C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ackground 4">
            <a:extLst>
              <a:ext uri="{FF2B5EF4-FFF2-40B4-BE49-F238E27FC236}">
                <a16:creationId xmlns:a16="http://schemas.microsoft.com/office/drawing/2014/main" id="{B4CB97E5-A27D-446D-ECF9-3ED82F376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ckground 5">
            <a:extLst>
              <a:ext uri="{FF2B5EF4-FFF2-40B4-BE49-F238E27FC236}">
                <a16:creationId xmlns:a16="http://schemas.microsoft.com/office/drawing/2014/main" id="{80C150F1-FA2A-9CE2-63F5-0681ADEEF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ackground 6">
            <a:extLst>
              <a:ext uri="{FF2B5EF4-FFF2-40B4-BE49-F238E27FC236}">
                <a16:creationId xmlns:a16="http://schemas.microsoft.com/office/drawing/2014/main" id="{7B4B2E7C-588E-1CDA-923F-811976D1F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ckground 7">
            <a:extLst>
              <a:ext uri="{FF2B5EF4-FFF2-40B4-BE49-F238E27FC236}">
                <a16:creationId xmlns:a16="http://schemas.microsoft.com/office/drawing/2014/main" id="{A8206D2C-81ED-00F4-D4BC-A424E6E6D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3AD5854-6A4B-E415-9EA2-300FD0E0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163954"/>
            <a:ext cx="10515600" cy="1325563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N1MM Database </a:t>
            </a:r>
            <a:r>
              <a:rPr lang="pl-PL" dirty="0" err="1">
                <a:solidFill>
                  <a:srgbClr val="FFFFFF"/>
                </a:solidFill>
              </a:rPr>
              <a:t>Configurator</a:t>
            </a:r>
            <a:br>
              <a:rPr lang="pl-PL" dirty="0">
                <a:solidFill>
                  <a:srgbClr val="FFFFFF"/>
                </a:solidFill>
              </a:rPr>
            </a:br>
            <a:r>
              <a:rPr lang="pl-PL" sz="2400" dirty="0" err="1">
                <a:solidFill>
                  <a:srgbClr val="FFFFFF"/>
                </a:solidFill>
              </a:rPr>
              <a:t>Contest</a:t>
            </a:r>
            <a:r>
              <a:rPr lang="pl-PL" sz="2400" dirty="0">
                <a:solidFill>
                  <a:srgbClr val="FFFFFF"/>
                </a:solidFill>
              </a:rPr>
              <a:t> </a:t>
            </a:r>
            <a:r>
              <a:rPr lang="pl-PL" sz="2400" dirty="0" err="1">
                <a:solidFill>
                  <a:srgbClr val="FFFFFF"/>
                </a:solidFill>
              </a:rPr>
              <a:t>used</a:t>
            </a:r>
            <a:r>
              <a:rPr lang="pl-PL" sz="2400" dirty="0">
                <a:solidFill>
                  <a:srgbClr val="FFFFFF"/>
                </a:solidFill>
              </a:rPr>
              <a:t> as </a:t>
            </a:r>
            <a:r>
              <a:rPr lang="pl-PL" sz="2400" dirty="0" err="1">
                <a:solidFill>
                  <a:srgbClr val="FFFFFF"/>
                </a:solidFill>
              </a:rPr>
              <a:t>illustration</a:t>
            </a:r>
            <a:r>
              <a:rPr lang="pl-PL" sz="2400" dirty="0">
                <a:solidFill>
                  <a:srgbClr val="FFFFFF"/>
                </a:solidFill>
              </a:rPr>
              <a:t>: CQ WW RTTY</a:t>
            </a:r>
            <a:endParaRPr lang="pl-PL" sz="240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B5083AA-8C80-C5E1-D439-4A8A437B8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05" y="1869572"/>
            <a:ext cx="4706161" cy="4099981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C8859EC-F2A3-CDE6-B6D5-6D6E00FA1E0C}"/>
              </a:ext>
            </a:extLst>
          </p:cNvPr>
          <p:cNvSpPr txBox="1"/>
          <p:nvPr/>
        </p:nvSpPr>
        <p:spPr>
          <a:xfrm>
            <a:off x="449205" y="1468803"/>
            <a:ext cx="225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File -&gt; New Log in DB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E8E78C6E-536E-1EE2-43AA-13E34AC39011}"/>
              </a:ext>
            </a:extLst>
          </p:cNvPr>
          <p:cNvSpPr/>
          <p:nvPr/>
        </p:nvSpPr>
        <p:spPr>
          <a:xfrm>
            <a:off x="337625" y="1838136"/>
            <a:ext cx="393895" cy="34861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38D2D4BB-6822-243D-A63F-54B08E8D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474" y="1541164"/>
            <a:ext cx="6742107" cy="5161199"/>
          </a:xfrm>
          <a:prstGeom prst="rect">
            <a:avLst/>
          </a:prstGeom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ADF5293-422E-1670-A969-01972405A6B0}"/>
              </a:ext>
            </a:extLst>
          </p:cNvPr>
          <p:cNvSpPr txBox="1"/>
          <p:nvPr/>
        </p:nvSpPr>
        <p:spPr>
          <a:xfrm>
            <a:off x="7879193" y="463299"/>
            <a:ext cx="32574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Right </a:t>
            </a:r>
            <a:r>
              <a:rPr lang="pl-PL" dirty="0" err="1">
                <a:solidFill>
                  <a:schemeClr val="bg1"/>
                </a:solidFill>
              </a:rPr>
              <a:t>click</a:t>
            </a:r>
            <a:r>
              <a:rPr lang="pl-PL" dirty="0">
                <a:solidFill>
                  <a:schemeClr val="bg1"/>
                </a:solidFill>
              </a:rPr>
              <a:t> on </a:t>
            </a:r>
            <a:r>
              <a:rPr lang="pl-PL" dirty="0" err="1">
                <a:solidFill>
                  <a:schemeClr val="bg1"/>
                </a:solidFill>
              </a:rPr>
              <a:t>any</a:t>
            </a:r>
            <a:r>
              <a:rPr lang="pl-PL" dirty="0">
                <a:solidFill>
                  <a:schemeClr val="bg1"/>
                </a:solidFill>
              </a:rPr>
              <a:t> of the macro </a:t>
            </a:r>
            <a:br>
              <a:rPr lang="pl-PL" dirty="0">
                <a:solidFill>
                  <a:schemeClr val="bg1"/>
                </a:solidFill>
              </a:rPr>
            </a:br>
            <a:r>
              <a:rPr lang="pl-PL" dirty="0" err="1">
                <a:solidFill>
                  <a:schemeClr val="bg1"/>
                </a:solidFill>
              </a:rPr>
              <a:t>buttons</a:t>
            </a:r>
            <a:r>
              <a:rPr lang="pl-PL" dirty="0">
                <a:solidFill>
                  <a:schemeClr val="bg1"/>
                </a:solidFill>
              </a:rPr>
              <a:t> to </a:t>
            </a:r>
            <a:r>
              <a:rPr lang="pl-PL" dirty="0" err="1">
                <a:solidFill>
                  <a:schemeClr val="bg1"/>
                </a:solidFill>
              </a:rPr>
              <a:t>launch</a:t>
            </a:r>
            <a:r>
              <a:rPr lang="pl-PL" dirty="0">
                <a:solidFill>
                  <a:schemeClr val="bg1"/>
                </a:solidFill>
              </a:rPr>
              <a:t> macro </a:t>
            </a:r>
            <a:r>
              <a:rPr lang="pl-PL" dirty="0" err="1">
                <a:solidFill>
                  <a:schemeClr val="bg1"/>
                </a:solidFill>
              </a:rPr>
              <a:t>editor</a:t>
            </a:r>
            <a:br>
              <a:rPr lang="pl-PL" dirty="0">
                <a:solidFill>
                  <a:schemeClr val="bg1"/>
                </a:solidFill>
              </a:rPr>
            </a:br>
            <a:r>
              <a:rPr lang="pl-PL" sz="1400" dirty="0">
                <a:solidFill>
                  <a:schemeClr val="bg1"/>
                </a:solidFill>
              </a:rPr>
              <a:t>(</a:t>
            </a:r>
            <a:r>
              <a:rPr lang="pl-PL" sz="1400" dirty="0" err="1">
                <a:solidFill>
                  <a:schemeClr val="bg1"/>
                </a:solidFill>
              </a:rPr>
              <a:t>diffault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macros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are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loaded</a:t>
            </a:r>
            <a:r>
              <a:rPr lang="pl-PL" sz="1400" dirty="0">
                <a:solidFill>
                  <a:schemeClr val="bg1"/>
                </a:solidFill>
              </a:rPr>
              <a:t> as part of</a:t>
            </a:r>
            <a:br>
              <a:rPr lang="pl-PL" sz="1400" dirty="0">
                <a:solidFill>
                  <a:schemeClr val="bg1"/>
                </a:solidFill>
              </a:rPr>
            </a:b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contest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config</a:t>
            </a:r>
            <a:r>
              <a:rPr lang="pl-PL" sz="1400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68167492-B7FA-6457-F425-50F04BFEBDD8}"/>
              </a:ext>
            </a:extLst>
          </p:cNvPr>
          <p:cNvSpPr/>
          <p:nvPr/>
        </p:nvSpPr>
        <p:spPr>
          <a:xfrm>
            <a:off x="5550408" y="2359152"/>
            <a:ext cx="6507435" cy="67152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525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B87E9A8-E365-7FBB-7E13-69F5A19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Tunning</a:t>
            </a:r>
            <a:r>
              <a:rPr lang="pl-PL">
                <a:solidFill>
                  <a:srgbClr val="FFFFFF"/>
                </a:solidFill>
              </a:rPr>
              <a:t> to the </a:t>
            </a:r>
            <a:r>
              <a:rPr lang="pl-PL" err="1">
                <a:solidFill>
                  <a:srgbClr val="FFFFFF"/>
                </a:solidFill>
              </a:rPr>
              <a:t>station</a:t>
            </a:r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6399D91-14F4-ED15-07B1-AB18D8645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7559"/>
            <a:ext cx="7401672" cy="3861742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C82104DC-7E48-B709-F77C-82C9265C0255}"/>
              </a:ext>
            </a:extLst>
          </p:cNvPr>
          <p:cNvSpPr txBox="1"/>
          <p:nvPr/>
        </p:nvSpPr>
        <p:spPr>
          <a:xfrm>
            <a:off x="8561196" y="2551837"/>
            <a:ext cx="3492816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>
                <a:solidFill>
                  <a:srgbClr val="FFFFFF"/>
                </a:solidFill>
              </a:rPr>
              <a:t>Open N1MM </a:t>
            </a:r>
            <a:r>
              <a:rPr lang="pl-PL" sz="1200" err="1">
                <a:solidFill>
                  <a:srgbClr val="FFFFFF"/>
                </a:solidFill>
              </a:rPr>
              <a:t>logger</a:t>
            </a:r>
            <a:endParaRPr lang="pl-PL" sz="1200"/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>
                <a:solidFill>
                  <a:srgbClr val="FFFFFF"/>
                </a:solidFill>
              </a:rPr>
              <a:t>Go to </a:t>
            </a:r>
            <a:r>
              <a:rPr lang="pl-PL" sz="1200" err="1">
                <a:solidFill>
                  <a:srgbClr val="FFFFFF"/>
                </a:solidFill>
              </a:rPr>
              <a:t>Window</a:t>
            </a:r>
            <a:r>
              <a:rPr lang="pl-PL" sz="1200">
                <a:solidFill>
                  <a:srgbClr val="FFFFFF"/>
                </a:solidFill>
              </a:rPr>
              <a:t> - &gt; Digital Interface</a:t>
            </a:r>
            <a:br>
              <a:rPr lang="pl-PL" sz="1200" dirty="0"/>
            </a:br>
            <a:r>
              <a:rPr lang="pl-PL" sz="1200">
                <a:solidFill>
                  <a:srgbClr val="FFFFFF"/>
                </a:solidFill>
              </a:rPr>
              <a:t>(</a:t>
            </a:r>
            <a:r>
              <a:rPr lang="pl-PL" sz="1200" err="1">
                <a:solidFill>
                  <a:srgbClr val="FFFFFF"/>
                </a:solidFill>
              </a:rPr>
              <a:t>this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shall</a:t>
            </a:r>
            <a:r>
              <a:rPr lang="pl-PL" sz="1200">
                <a:solidFill>
                  <a:srgbClr val="FFFFFF"/>
                </a:solidFill>
              </a:rPr>
              <a:t> open MMTTY)</a:t>
            </a:r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>
                <a:solidFill>
                  <a:srgbClr val="FFFFFF"/>
                </a:solidFill>
              </a:rPr>
              <a:t>Switch FT-710 to </a:t>
            </a:r>
            <a:r>
              <a:rPr lang="pl-PL" sz="1200" err="1">
                <a:solidFill>
                  <a:srgbClr val="FFFFFF"/>
                </a:solidFill>
              </a:rPr>
              <a:t>mode</a:t>
            </a:r>
            <a:r>
              <a:rPr lang="pl-PL" sz="1200">
                <a:solidFill>
                  <a:srgbClr val="FFFFFF"/>
                </a:solidFill>
              </a:rPr>
              <a:t>: RTTY-U</a:t>
            </a:r>
            <a:br>
              <a:rPr lang="pl-PL" sz="1200" dirty="0"/>
            </a:br>
            <a:r>
              <a:rPr lang="pl-PL" sz="1200">
                <a:solidFill>
                  <a:srgbClr val="FFFFFF"/>
                </a:solidFill>
              </a:rPr>
              <a:t>(</a:t>
            </a:r>
            <a:r>
              <a:rPr lang="pl-PL" sz="1200" err="1">
                <a:solidFill>
                  <a:srgbClr val="FFFFFF"/>
                </a:solidFill>
              </a:rPr>
              <a:t>rearly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you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will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see</a:t>
            </a:r>
            <a:r>
              <a:rPr lang="pl-PL" sz="1200">
                <a:solidFill>
                  <a:srgbClr val="FFFFFF"/>
                </a:solidFill>
              </a:rPr>
              <a:t> RTTY-L </a:t>
            </a:r>
            <a:r>
              <a:rPr lang="pl-PL" sz="1200" err="1">
                <a:solidFill>
                  <a:srgbClr val="FFFFFF"/>
                </a:solidFill>
              </a:rPr>
              <a:t>being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used</a:t>
            </a:r>
            <a:r>
              <a:rPr lang="pl-PL" sz="1200">
                <a:solidFill>
                  <a:srgbClr val="FFFFFF"/>
                </a:solidFill>
              </a:rPr>
              <a:t>)</a:t>
            </a:r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>
                <a:solidFill>
                  <a:srgbClr val="FFFFFF"/>
                </a:solidFill>
              </a:rPr>
              <a:t>It </a:t>
            </a:r>
            <a:r>
              <a:rPr lang="pl-PL" sz="1200" err="1">
                <a:solidFill>
                  <a:srgbClr val="FFFFFF"/>
                </a:solidFill>
              </a:rPr>
              <a:t>is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helpful</a:t>
            </a:r>
            <a:r>
              <a:rPr lang="pl-PL" sz="1200">
                <a:solidFill>
                  <a:srgbClr val="FFFFFF"/>
                </a:solidFill>
              </a:rPr>
              <a:t> to </a:t>
            </a:r>
            <a:r>
              <a:rPr lang="pl-PL" sz="1200" err="1">
                <a:solidFill>
                  <a:srgbClr val="FFFFFF"/>
                </a:solidFill>
              </a:rPr>
              <a:t>change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raio’s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waterfall</a:t>
            </a:r>
            <a:r>
              <a:rPr lang="pl-PL" sz="1200">
                <a:solidFill>
                  <a:srgbClr val="FFFFFF"/>
                </a:solidFill>
              </a:rPr>
              <a:t> </a:t>
            </a:r>
            <a:br>
              <a:rPr lang="pl-PL" sz="1200" dirty="0"/>
            </a:br>
            <a:r>
              <a:rPr lang="pl-PL" sz="1200" err="1">
                <a:solidFill>
                  <a:srgbClr val="FFFFFF"/>
                </a:solidFill>
              </a:rPr>
              <a:t>span</a:t>
            </a:r>
            <a:r>
              <a:rPr lang="pl-PL" sz="1200">
                <a:solidFill>
                  <a:srgbClr val="FFFFFF"/>
                </a:solidFill>
              </a:rPr>
              <a:t> to </a:t>
            </a:r>
            <a:r>
              <a:rPr lang="pl-PL" sz="1200" err="1">
                <a:solidFill>
                  <a:srgbClr val="FFFFFF"/>
                </a:solidFill>
              </a:rPr>
              <a:t>about</a:t>
            </a:r>
            <a:r>
              <a:rPr lang="pl-PL" sz="1200">
                <a:solidFill>
                  <a:srgbClr val="FFFFFF"/>
                </a:solidFill>
              </a:rPr>
              <a:t> 20k</a:t>
            </a:r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 err="1">
                <a:solidFill>
                  <a:srgbClr val="FFFFFF"/>
                </a:solidFill>
              </a:rPr>
              <a:t>Tune</a:t>
            </a:r>
            <a:r>
              <a:rPr lang="pl-PL" sz="1200">
                <a:solidFill>
                  <a:srgbClr val="FFFFFF"/>
                </a:solidFill>
              </a:rPr>
              <a:t> to the </a:t>
            </a:r>
            <a:r>
              <a:rPr lang="pl-PL" sz="1200" err="1">
                <a:solidFill>
                  <a:srgbClr val="FFFFFF"/>
                </a:solidFill>
              </a:rPr>
              <a:t>station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so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you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can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see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signal</a:t>
            </a:r>
            <a:r>
              <a:rPr lang="pl-PL" sz="1200">
                <a:solidFill>
                  <a:srgbClr val="FFFFFF"/>
                </a:solidFill>
              </a:rPr>
              <a:t> </a:t>
            </a:r>
            <a:br>
              <a:rPr lang="pl-PL" sz="1200" dirty="0"/>
            </a:br>
            <a:r>
              <a:rPr lang="pl-PL" sz="1200">
                <a:solidFill>
                  <a:srgbClr val="FFFFFF"/>
                </a:solidFill>
              </a:rPr>
              <a:t>spectrum as on </a:t>
            </a:r>
            <a:r>
              <a:rPr lang="pl-PL" sz="1200" err="1">
                <a:solidFill>
                  <a:srgbClr val="FFFFFF"/>
                </a:solidFill>
              </a:rPr>
              <a:t>bottom-right</a:t>
            </a:r>
            <a:r>
              <a:rPr lang="pl-PL" sz="1200">
                <a:solidFill>
                  <a:srgbClr val="FFFFFF"/>
                </a:solidFill>
              </a:rPr>
              <a:t> of the </a:t>
            </a:r>
            <a:r>
              <a:rPr lang="pl-PL" sz="1200" err="1">
                <a:solidFill>
                  <a:srgbClr val="FFFFFF"/>
                </a:solidFill>
              </a:rPr>
              <a:t>picture</a:t>
            </a:r>
            <a:r>
              <a:rPr lang="pl-PL" sz="1200">
                <a:solidFill>
                  <a:srgbClr val="FFFFFF"/>
                </a:solidFill>
              </a:rPr>
              <a:t>.</a:t>
            </a:r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 err="1">
                <a:solidFill>
                  <a:srgbClr val="FFFFFF"/>
                </a:solidFill>
              </a:rPr>
              <a:t>Now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botm-left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window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shall</a:t>
            </a:r>
            <a:r>
              <a:rPr lang="pl-PL" sz="1200">
                <a:solidFill>
                  <a:srgbClr val="FFFFFF"/>
                </a:solidFill>
              </a:rPr>
              <a:t> start </a:t>
            </a:r>
            <a:r>
              <a:rPr lang="pl-PL" sz="1200" err="1">
                <a:solidFill>
                  <a:srgbClr val="FFFFFF"/>
                </a:solidFill>
              </a:rPr>
              <a:t>filling</a:t>
            </a:r>
            <a:r>
              <a:rPr lang="pl-PL" sz="1200">
                <a:solidFill>
                  <a:srgbClr val="FFFFFF"/>
                </a:solidFill>
              </a:rPr>
              <a:t> with </a:t>
            </a:r>
            <a:br>
              <a:rPr lang="pl-PL" sz="1200" dirty="0"/>
            </a:br>
            <a:r>
              <a:rPr lang="pl-PL" sz="1200" err="1">
                <a:solidFill>
                  <a:srgbClr val="FFFFFF"/>
                </a:solidFill>
              </a:rPr>
              <a:t>decoded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messages</a:t>
            </a:r>
            <a:endParaRPr lang="pl-PL" sz="1200"/>
          </a:p>
          <a:p>
            <a:pPr marL="342900" indent="-342900"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sz="1200" err="1">
                <a:solidFill>
                  <a:srgbClr val="FFFFFF"/>
                </a:solidFill>
              </a:rPr>
              <a:t>During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contest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use</a:t>
            </a:r>
            <a:r>
              <a:rPr lang="pl-PL" sz="1200">
                <a:solidFill>
                  <a:srgbClr val="FFFFFF"/>
                </a:solidFill>
              </a:rPr>
              <a:t> macro </a:t>
            </a:r>
            <a:r>
              <a:rPr lang="pl-PL" sz="1200" err="1">
                <a:solidFill>
                  <a:srgbClr val="FFFFFF"/>
                </a:solidFill>
              </a:rPr>
              <a:t>keys</a:t>
            </a:r>
            <a:r>
              <a:rPr lang="pl-PL" sz="1200">
                <a:solidFill>
                  <a:srgbClr val="FFFFFF"/>
                </a:solidFill>
              </a:rPr>
              <a:t> as </a:t>
            </a:r>
            <a:r>
              <a:rPr lang="pl-PL" sz="1200" err="1">
                <a:solidFill>
                  <a:srgbClr val="FFFFFF"/>
                </a:solidFill>
              </a:rPr>
              <a:t>described</a:t>
            </a:r>
            <a:r>
              <a:rPr lang="pl-PL" sz="1200">
                <a:solidFill>
                  <a:srgbClr val="FFFFFF"/>
                </a:solidFill>
              </a:rPr>
              <a:t> </a:t>
            </a:r>
            <a:br>
              <a:rPr lang="pl-PL" sz="1200" dirty="0"/>
            </a:br>
            <a:r>
              <a:rPr lang="pl-PL" sz="1200">
                <a:solidFill>
                  <a:srgbClr val="FFFFFF"/>
                </a:solidFill>
              </a:rPr>
              <a:t>on </a:t>
            </a:r>
            <a:r>
              <a:rPr lang="pl-PL" sz="1200" err="1">
                <a:solidFill>
                  <a:srgbClr val="FFFFFF"/>
                </a:solidFill>
              </a:rPr>
              <a:t>next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two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slides</a:t>
            </a:r>
            <a:r>
              <a:rPr lang="pl-PL" sz="1200">
                <a:solidFill>
                  <a:srgbClr val="FFFFFF"/>
                </a:solidFill>
              </a:rPr>
              <a:t> to </a:t>
            </a:r>
            <a:r>
              <a:rPr lang="pl-PL" sz="1200" err="1">
                <a:solidFill>
                  <a:srgbClr val="FFFFFF"/>
                </a:solidFill>
              </a:rPr>
              <a:t>complete</a:t>
            </a:r>
            <a:r>
              <a:rPr lang="pl-PL" sz="1200">
                <a:solidFill>
                  <a:srgbClr val="FFFFFF"/>
                </a:solidFill>
              </a:rPr>
              <a:t> </a:t>
            </a:r>
            <a:r>
              <a:rPr lang="pl-PL" sz="1200" err="1">
                <a:solidFill>
                  <a:srgbClr val="FFFFFF"/>
                </a:solidFill>
              </a:rPr>
              <a:t>qso</a:t>
            </a:r>
            <a:endParaRPr lang="pl-PL" sz="1200"/>
          </a:p>
        </p:txBody>
      </p: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35B2B633-2E3D-1878-685C-A9E8BA530C89}"/>
              </a:ext>
            </a:extLst>
          </p:cNvPr>
          <p:cNvSpPr/>
          <p:nvPr/>
        </p:nvSpPr>
        <p:spPr>
          <a:xfrm>
            <a:off x="8239872" y="3848519"/>
            <a:ext cx="367043" cy="68328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pl-PL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4C69B33-CDF0-0277-2BFB-8B9707FF1EFF}"/>
              </a:ext>
            </a:extLst>
          </p:cNvPr>
          <p:cNvCxnSpPr/>
          <p:nvPr/>
        </p:nvCxnSpPr>
        <p:spPr>
          <a:xfrm flipH="1" flipV="1">
            <a:off x="3094892" y="2471895"/>
            <a:ext cx="5466304" cy="391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awias klamrowy zamykający 9">
            <a:extLst>
              <a:ext uri="{FF2B5EF4-FFF2-40B4-BE49-F238E27FC236}">
                <a16:creationId xmlns:a16="http://schemas.microsoft.com/office/drawing/2014/main" id="{82BF4F18-E91B-2074-45BB-0B6C8943FD7C}"/>
              </a:ext>
            </a:extLst>
          </p:cNvPr>
          <p:cNvSpPr/>
          <p:nvPr/>
        </p:nvSpPr>
        <p:spPr>
          <a:xfrm>
            <a:off x="11585748" y="3034602"/>
            <a:ext cx="361739" cy="81391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pl-PL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533A33C8-A4CF-F580-75A2-DE16841BB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1" t="16703" r="15458" b="9890"/>
          <a:stretch>
            <a:fillRect/>
          </a:stretch>
        </p:blipFill>
        <p:spPr>
          <a:xfrm>
            <a:off x="8423393" y="259670"/>
            <a:ext cx="3012018" cy="2090057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B9A5D13E-BAEF-91D6-12B6-BE91FC9C6EDB}"/>
              </a:ext>
            </a:extLst>
          </p:cNvPr>
          <p:cNvCxnSpPr>
            <a:cxnSpLocks/>
          </p:cNvCxnSpPr>
          <p:nvPr/>
        </p:nvCxnSpPr>
        <p:spPr>
          <a:xfrm flipH="1">
            <a:off x="9929402" y="763675"/>
            <a:ext cx="20180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64E93C5C-8E31-8DAE-F21E-C8C741DC824D}"/>
              </a:ext>
            </a:extLst>
          </p:cNvPr>
          <p:cNvCxnSpPr>
            <a:cxnSpLocks/>
          </p:cNvCxnSpPr>
          <p:nvPr/>
        </p:nvCxnSpPr>
        <p:spPr>
          <a:xfrm flipH="1">
            <a:off x="10652067" y="1941007"/>
            <a:ext cx="12954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35D9AF43-F532-6BC6-5063-26C579A058E6}"/>
              </a:ext>
            </a:extLst>
          </p:cNvPr>
          <p:cNvCxnSpPr/>
          <p:nvPr/>
        </p:nvCxnSpPr>
        <p:spPr>
          <a:xfrm>
            <a:off x="11947490" y="763675"/>
            <a:ext cx="0" cy="26778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98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4D4EE71-0DFE-8FD7-3B01-A226255C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Responding</a:t>
            </a:r>
            <a:r>
              <a:rPr lang="pl-PL">
                <a:solidFill>
                  <a:srgbClr val="FFFFFF"/>
                </a:solidFill>
              </a:rPr>
              <a:t> to CQ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0A6F10-F446-EB11-3AAB-4F50F2DF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14" y="2491991"/>
            <a:ext cx="10515600" cy="3684972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IB9R:   </a:t>
            </a:r>
            <a:r>
              <a:rPr lang="pl-PL" b="1" dirty="0">
                <a:solidFill>
                  <a:srgbClr val="FFFFFF"/>
                </a:solidFill>
              </a:rPr>
              <a:t>CQ IB9R </a:t>
            </a:r>
            <a:r>
              <a:rPr lang="pl-PL" b="1" dirty="0" err="1">
                <a:solidFill>
                  <a:srgbClr val="FFFFFF"/>
                </a:solidFill>
              </a:rPr>
              <a:t>IB9R</a:t>
            </a:r>
            <a:r>
              <a:rPr lang="pl-PL" b="1" dirty="0">
                <a:solidFill>
                  <a:srgbClr val="FFFFFF"/>
                </a:solidFill>
              </a:rPr>
              <a:t> TEST </a:t>
            </a:r>
            <a:r>
              <a:rPr lang="pl-PL" dirty="0">
                <a:solidFill>
                  <a:srgbClr val="FFFFFF"/>
                </a:solidFill>
              </a:rPr>
              <a:t>			(</a:t>
            </a:r>
            <a:r>
              <a:rPr lang="pl-PL" dirty="0" err="1">
                <a:solidFill>
                  <a:srgbClr val="FFFFFF"/>
                </a:solidFill>
              </a:rPr>
              <a:t>You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listen</a:t>
            </a:r>
            <a:r>
              <a:rPr lang="pl-PL" dirty="0">
                <a:solidFill>
                  <a:srgbClr val="FFFFFF"/>
                </a:solidFill>
              </a:rPr>
              <a:t> for </a:t>
            </a:r>
            <a:r>
              <a:rPr lang="pl-PL" dirty="0" err="1">
                <a:solidFill>
                  <a:srgbClr val="FFFFFF"/>
                </a:solidFill>
              </a:rPr>
              <a:t>this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msg</a:t>
            </a:r>
            <a:r>
              <a:rPr lang="pl-PL" dirty="0">
                <a:solidFill>
                  <a:srgbClr val="FFFFFF"/>
                </a:solidFill>
              </a:rPr>
              <a:t>)</a:t>
            </a:r>
            <a:br>
              <a:rPr lang="pl-PL" dirty="0"/>
            </a:br>
            <a:r>
              <a:rPr lang="pl-PL" dirty="0">
                <a:solidFill>
                  <a:srgbClr val="FFFFFF"/>
                </a:solidFill>
              </a:rPr>
              <a:t>	    </a:t>
            </a:r>
            <a:r>
              <a:rPr lang="pl-PL" sz="1800" dirty="0">
                <a:solidFill>
                  <a:srgbClr val="FFFFFF"/>
                </a:solidFill>
              </a:rPr>
              <a:t>CQ TEST IB9R </a:t>
            </a:r>
            <a:r>
              <a:rPr lang="pl-PL" sz="1800" dirty="0" err="1">
                <a:solidFill>
                  <a:srgbClr val="FFFFFF"/>
                </a:solidFill>
              </a:rPr>
              <a:t>IB9R</a:t>
            </a:r>
            <a:r>
              <a:rPr lang="pl-PL" sz="1800" dirty="0">
                <a:solidFill>
                  <a:srgbClr val="FFFFFF"/>
                </a:solidFill>
              </a:rPr>
              <a:t> TEST CQ</a:t>
            </a:r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pl-PL" dirty="0"/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SP5GW:  </a:t>
            </a:r>
            <a:r>
              <a:rPr lang="pl-PL" b="1" dirty="0">
                <a:solidFill>
                  <a:srgbClr val="FFFFFF"/>
                </a:solidFill>
              </a:rPr>
              <a:t>SP5GW </a:t>
            </a:r>
            <a:r>
              <a:rPr lang="pl-PL" b="1" dirty="0" err="1">
                <a:solidFill>
                  <a:srgbClr val="FFFFFF"/>
                </a:solidFill>
              </a:rPr>
              <a:t>SP5GW</a:t>
            </a:r>
            <a:r>
              <a:rPr lang="pl-PL" b="1" dirty="0">
                <a:solidFill>
                  <a:srgbClr val="FFFFFF"/>
                </a:solidFill>
              </a:rPr>
              <a:t> </a:t>
            </a:r>
            <a:r>
              <a:rPr lang="pl-PL" b="1" dirty="0" err="1">
                <a:solidFill>
                  <a:srgbClr val="FFFFFF"/>
                </a:solidFill>
              </a:rPr>
              <a:t>SP5GW</a:t>
            </a:r>
            <a:r>
              <a:rPr lang="pl-PL" dirty="0">
                <a:solidFill>
                  <a:srgbClr val="FFFFFF"/>
                </a:solidFill>
              </a:rPr>
              <a:t>		(Press macro F4 SP5GW)</a:t>
            </a:r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pl-PL" dirty="0"/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IB9R:   </a:t>
            </a:r>
            <a:r>
              <a:rPr lang="pl-PL" b="1" dirty="0">
                <a:solidFill>
                  <a:srgbClr val="FFFFFF"/>
                </a:solidFill>
              </a:rPr>
              <a:t>SP5GW 599 15 15 IB9R </a:t>
            </a:r>
            <a:r>
              <a:rPr lang="pl-PL" dirty="0" err="1">
                <a:solidFill>
                  <a:srgbClr val="FFFFFF"/>
                </a:solidFill>
              </a:rPr>
              <a:t>or</a:t>
            </a:r>
            <a:r>
              <a:rPr lang="pl-PL" dirty="0">
                <a:solidFill>
                  <a:srgbClr val="FFFFFF"/>
                </a:solidFill>
              </a:rPr>
              <a:t>		(</a:t>
            </a:r>
            <a:r>
              <a:rPr lang="pl-PL" dirty="0" err="1">
                <a:solidFill>
                  <a:srgbClr val="FFFFFF"/>
                </a:solidFill>
              </a:rPr>
              <a:t>You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listen</a:t>
            </a:r>
            <a:r>
              <a:rPr lang="pl-PL" dirty="0">
                <a:solidFill>
                  <a:srgbClr val="FFFFFF"/>
                </a:solidFill>
              </a:rPr>
              <a:t> for </a:t>
            </a:r>
            <a:r>
              <a:rPr lang="pl-PL" dirty="0" err="1">
                <a:solidFill>
                  <a:srgbClr val="FFFFFF"/>
                </a:solidFill>
              </a:rPr>
              <a:t>his</a:t>
            </a:r>
            <a:r>
              <a:rPr lang="pl-PL" dirty="0">
                <a:solidFill>
                  <a:srgbClr val="FFFFFF"/>
                </a:solidFill>
              </a:rPr>
              <a:t> </a:t>
            </a:r>
            <a:r>
              <a:rPr lang="pl-PL" dirty="0" err="1">
                <a:solidFill>
                  <a:srgbClr val="FFFFFF"/>
                </a:solidFill>
              </a:rPr>
              <a:t>response</a:t>
            </a:r>
            <a:r>
              <a:rPr lang="pl-PL" dirty="0">
                <a:solidFill>
                  <a:srgbClr val="FFFFFF"/>
                </a:solidFill>
              </a:rPr>
              <a:t>)</a:t>
            </a:r>
            <a:br>
              <a:rPr lang="pl-PL" dirty="0"/>
            </a:br>
            <a:r>
              <a:rPr lang="pl-PL" dirty="0">
                <a:solidFill>
                  <a:srgbClr val="FFFFFF"/>
                </a:solidFill>
              </a:rPr>
              <a:t>	</a:t>
            </a:r>
            <a:r>
              <a:rPr lang="pl-PL" sz="1800" dirty="0">
                <a:solidFill>
                  <a:srgbClr val="FFFFFF"/>
                </a:solidFill>
              </a:rPr>
              <a:t>      SP5GW 599 15 15 SP5GW </a:t>
            </a:r>
            <a:r>
              <a:rPr lang="pl-PL" sz="1800" dirty="0" err="1">
                <a:solidFill>
                  <a:srgbClr val="FFFFFF"/>
                </a:solidFill>
              </a:rPr>
              <a:t>or</a:t>
            </a:r>
            <a:br>
              <a:rPr lang="pl-PL" sz="1800" dirty="0"/>
            </a:br>
            <a:r>
              <a:rPr lang="pl-PL" sz="1800" dirty="0">
                <a:solidFill>
                  <a:srgbClr val="FFFFFF"/>
                </a:solidFill>
              </a:rPr>
              <a:t>                      IB9R DE SP5GW 599 15 15      </a:t>
            </a:r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pl-PL" dirty="0"/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SP5GW:  </a:t>
            </a:r>
            <a:r>
              <a:rPr lang="pl-PL" b="1" dirty="0">
                <a:solidFill>
                  <a:srgbClr val="FFFFFF"/>
                </a:solidFill>
              </a:rPr>
              <a:t>IB9R 599 15 15 SP5GW</a:t>
            </a:r>
            <a:r>
              <a:rPr lang="pl-PL" dirty="0">
                <a:solidFill>
                  <a:srgbClr val="FFFFFF"/>
                </a:solidFill>
              </a:rPr>
              <a:t>		(Press macro F2 Run </a:t>
            </a:r>
            <a:r>
              <a:rPr lang="pl-PL" dirty="0" err="1">
                <a:solidFill>
                  <a:srgbClr val="FFFFFF"/>
                </a:solidFill>
              </a:rPr>
              <a:t>Exch</a:t>
            </a:r>
            <a:r>
              <a:rPr lang="pl-PL" dirty="0">
                <a:solidFill>
                  <a:srgbClr val="FFFFFF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endParaRPr lang="pl-PL" dirty="0"/>
          </a:p>
          <a:p>
            <a:pPr marL="514350" indent="-514350">
              <a:buFont typeface="+mj-lt"/>
              <a:buAutoNum type="arabicPeriod"/>
              <a:defRPr>
                <a:solidFill>
                  <a:srgbClr val="FFFFFF"/>
                </a:solidFill>
              </a:defRPr>
            </a:pPr>
            <a:r>
              <a:rPr lang="pl-PL" dirty="0">
                <a:solidFill>
                  <a:srgbClr val="FFFFFF"/>
                </a:solidFill>
              </a:rPr>
              <a:t>IB9R:   </a:t>
            </a:r>
            <a:r>
              <a:rPr lang="pl-PL" b="1" dirty="0">
                <a:solidFill>
                  <a:srgbClr val="FFFFFF"/>
                </a:solidFill>
              </a:rPr>
              <a:t>SP5GW TU IB9R TEST </a:t>
            </a:r>
            <a:r>
              <a:rPr lang="pl-PL" dirty="0" err="1">
                <a:solidFill>
                  <a:srgbClr val="FFFFFF"/>
                </a:solidFill>
              </a:rPr>
              <a:t>or</a:t>
            </a:r>
            <a:r>
              <a:rPr lang="pl-PL" dirty="0">
                <a:solidFill>
                  <a:srgbClr val="FFFFFF"/>
                </a:solidFill>
              </a:rPr>
              <a:t>		(He </a:t>
            </a:r>
            <a:r>
              <a:rPr lang="pl-PL" dirty="0" err="1">
                <a:solidFill>
                  <a:srgbClr val="FFFFFF"/>
                </a:solidFill>
              </a:rPr>
              <a:t>finalizes</a:t>
            </a:r>
            <a:r>
              <a:rPr lang="pl-PL" dirty="0">
                <a:solidFill>
                  <a:srgbClr val="FFFFFF"/>
                </a:solidFill>
              </a:rPr>
              <a:t> the </a:t>
            </a:r>
            <a:r>
              <a:rPr lang="pl-PL" dirty="0" err="1">
                <a:solidFill>
                  <a:srgbClr val="FFFFFF"/>
                </a:solidFill>
              </a:rPr>
              <a:t>qso</a:t>
            </a:r>
            <a:r>
              <a:rPr lang="pl-PL" dirty="0">
                <a:solidFill>
                  <a:srgbClr val="FFFFFF"/>
                </a:solidFill>
              </a:rPr>
              <a:t>)</a:t>
            </a:r>
            <a:br>
              <a:rPr lang="pl-PL" dirty="0"/>
            </a:br>
            <a:r>
              <a:rPr lang="pl-PL" dirty="0">
                <a:solidFill>
                  <a:srgbClr val="FFFFFF"/>
                </a:solidFill>
              </a:rPr>
              <a:t>              </a:t>
            </a:r>
            <a:r>
              <a:rPr lang="pl-PL" sz="1800" dirty="0">
                <a:solidFill>
                  <a:srgbClr val="FFFFFF"/>
                </a:solidFill>
              </a:rPr>
              <a:t>SP5GW TU IB9R CQ            </a:t>
            </a:r>
            <a:r>
              <a:rPr lang="pl-PL" sz="1800" dirty="0" err="1">
                <a:solidFill>
                  <a:srgbClr val="FFFFFF"/>
                </a:solidFill>
              </a:rPr>
              <a:t>or</a:t>
            </a:r>
            <a:br>
              <a:rPr lang="pl-PL" sz="1800" dirty="0"/>
            </a:br>
            <a:r>
              <a:rPr lang="pl-PL" sz="1800" dirty="0">
                <a:solidFill>
                  <a:srgbClr val="FFFFFF"/>
                </a:solidFill>
              </a:rPr>
              <a:t>	     SP5GW TU DE IB9R QRZ?      </a:t>
            </a:r>
            <a:r>
              <a:rPr lang="pl-PL" sz="1800" dirty="0" err="1">
                <a:solidFill>
                  <a:srgbClr val="FFFFFF"/>
                </a:solidFill>
              </a:rPr>
              <a:t>or</a:t>
            </a:r>
            <a:br>
              <a:rPr lang="pl-PL" sz="1800" dirty="0"/>
            </a:br>
            <a:r>
              <a:rPr lang="pl-PL" sz="1800" dirty="0">
                <a:solidFill>
                  <a:srgbClr val="FFFFFF"/>
                </a:solidFill>
              </a:rPr>
              <a:t>                     SP5GW TU NOW OL1Z 599 15 15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DDDFC3B-82A4-25A9-AF13-D54FD784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792" y="541593"/>
            <a:ext cx="6593058" cy="1539574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4183A82-E2EB-ABF4-FB19-AEEF9AD9F2DF}"/>
              </a:ext>
            </a:extLst>
          </p:cNvPr>
          <p:cNvSpPr txBox="1"/>
          <p:nvPr/>
        </p:nvSpPr>
        <p:spPr>
          <a:xfrm>
            <a:off x="6601349" y="5895914"/>
            <a:ext cx="532819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IB9R </a:t>
            </a:r>
            <a:r>
              <a:rPr lang="pl-PL" dirty="0" err="1">
                <a:solidFill>
                  <a:schemeClr val="bg1"/>
                </a:solidFill>
              </a:rPr>
              <a:t>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your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corespondent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SP5GW </a:t>
            </a:r>
            <a:r>
              <a:rPr lang="pl-PL" dirty="0" err="1">
                <a:solidFill>
                  <a:schemeClr val="bg1"/>
                </a:solidFill>
              </a:rPr>
              <a:t>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your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call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sign</a:t>
            </a:r>
            <a:r>
              <a:rPr lang="pl-PL" dirty="0">
                <a:solidFill>
                  <a:schemeClr val="bg1"/>
                </a:solidFill>
              </a:rPr>
              <a:t> in </a:t>
            </a:r>
            <a:r>
              <a:rPr lang="pl-PL" dirty="0" err="1">
                <a:solidFill>
                  <a:schemeClr val="bg1"/>
                </a:solidFill>
              </a:rPr>
              <a:t>this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example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sz="1400" dirty="0" err="1">
                <a:solidFill>
                  <a:schemeClr val="bg1"/>
                </a:solidFill>
              </a:rPr>
              <a:t>Messages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given</a:t>
            </a:r>
            <a:r>
              <a:rPr lang="pl-PL" sz="1400" dirty="0">
                <a:solidFill>
                  <a:schemeClr val="bg1"/>
                </a:solidFill>
              </a:rPr>
              <a:t> in </a:t>
            </a:r>
            <a:r>
              <a:rPr lang="pl-PL" sz="1400" dirty="0" err="1">
                <a:solidFill>
                  <a:schemeClr val="bg1"/>
                </a:solidFill>
              </a:rPr>
              <a:t>smaller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text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are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variations</a:t>
            </a:r>
            <a:r>
              <a:rPr lang="pl-PL" sz="1400" dirty="0">
                <a:solidFill>
                  <a:schemeClr val="bg1"/>
                </a:solidFill>
              </a:rPr>
              <a:t> of the  </a:t>
            </a:r>
            <a:r>
              <a:rPr lang="pl-PL" sz="1400" dirty="0" err="1">
                <a:solidFill>
                  <a:schemeClr val="bg1"/>
                </a:solidFill>
              </a:rPr>
              <a:t>main</a:t>
            </a:r>
            <a:r>
              <a:rPr lang="pl-PL" sz="1400" dirty="0">
                <a:solidFill>
                  <a:schemeClr val="bg1"/>
                </a:solidFill>
              </a:rPr>
              <a:t> </a:t>
            </a:r>
            <a:r>
              <a:rPr lang="pl-PL" sz="1400" dirty="0" err="1">
                <a:solidFill>
                  <a:schemeClr val="bg1"/>
                </a:solidFill>
              </a:rPr>
              <a:t>message</a:t>
            </a:r>
            <a:r>
              <a:rPr lang="pl-PL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835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Background 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Background 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Background 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ckground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ckground 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ackground 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ackground 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EA5ACD-D90D-BC56-81E1-659A9CDD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 err="1">
                <a:solidFill>
                  <a:srgbClr val="FFFFFF"/>
                </a:solidFill>
              </a:rPr>
              <a:t>Calling</a:t>
            </a:r>
            <a:r>
              <a:rPr lang="pl-PL">
                <a:solidFill>
                  <a:srgbClr val="FFFFFF"/>
                </a:solidFill>
              </a:rPr>
              <a:t> CQ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5C8286-C29E-8ADE-0537-E70527F2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SP5GW:   CQ SP5GW </a:t>
            </a:r>
            <a:r>
              <a:rPr lang="pl-PL" err="1">
                <a:solidFill>
                  <a:srgbClr val="FFFFFF"/>
                </a:solidFill>
              </a:rPr>
              <a:t>SP5GW</a:t>
            </a:r>
            <a:r>
              <a:rPr lang="pl-PL">
                <a:solidFill>
                  <a:srgbClr val="FFFFFF"/>
                </a:solidFill>
              </a:rPr>
              <a:t> TEST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lang="pl-PL"/>
          </a:p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IB9R:  IB9R </a:t>
            </a:r>
            <a:r>
              <a:rPr lang="pl-PL" err="1">
                <a:solidFill>
                  <a:srgbClr val="FFFFFF"/>
                </a:solidFill>
              </a:rPr>
              <a:t>IB9R</a:t>
            </a:r>
            <a:r>
              <a:rPr lang="pl-PL">
                <a:solidFill>
                  <a:srgbClr val="FFFFFF"/>
                </a:solidFill>
              </a:rPr>
              <a:t> </a:t>
            </a:r>
            <a:r>
              <a:rPr lang="pl-PL" err="1">
                <a:solidFill>
                  <a:srgbClr val="FFFFFF"/>
                </a:solidFill>
              </a:rPr>
              <a:t>IB9R</a:t>
            </a:r>
            <a:endParaRPr lang="pl-PL"/>
          </a:p>
          <a:p>
            <a:pPr>
              <a:defRPr>
                <a:solidFill>
                  <a:srgbClr val="FFFFFF"/>
                </a:solidFill>
              </a:defRPr>
            </a:pPr>
            <a:endParaRPr lang="pl-PL"/>
          </a:p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SP5GW:   IB9R 599 15 15 SP5GW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lang="pl-PL"/>
          </a:p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IB9R:  SP5GW 599 15 15 IB9R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lang="pl-PL"/>
          </a:p>
          <a:p>
            <a:pPr>
              <a:defRPr>
                <a:solidFill>
                  <a:srgbClr val="FFFFFF"/>
                </a:solidFill>
              </a:defRPr>
            </a:pPr>
            <a:r>
              <a:rPr lang="pl-PL">
                <a:solidFill>
                  <a:srgbClr val="FFFFFF"/>
                </a:solidFill>
              </a:rPr>
              <a:t>SP5GW:   IB9R TU SP5GW TEST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D0C0536-2057-DA69-7E26-15836DD2A652}"/>
              </a:ext>
            </a:extLst>
          </p:cNvPr>
          <p:cNvSpPr txBox="1"/>
          <p:nvPr/>
        </p:nvSpPr>
        <p:spPr>
          <a:xfrm>
            <a:off x="8023918" y="6017467"/>
            <a:ext cx="4033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SP5GW </a:t>
            </a:r>
            <a:r>
              <a:rPr lang="pl-PL" dirty="0" err="1">
                <a:solidFill>
                  <a:schemeClr val="bg1"/>
                </a:solidFill>
              </a:rPr>
              <a:t>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your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call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sign</a:t>
            </a:r>
            <a:r>
              <a:rPr lang="pl-PL" dirty="0">
                <a:solidFill>
                  <a:schemeClr val="bg1"/>
                </a:solidFill>
              </a:rPr>
              <a:t> in </a:t>
            </a:r>
            <a:r>
              <a:rPr lang="pl-PL" dirty="0" err="1">
                <a:solidFill>
                  <a:schemeClr val="bg1"/>
                </a:solidFill>
              </a:rPr>
              <a:t>this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example</a:t>
            </a:r>
            <a:endParaRPr lang="pl-PL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IB9R </a:t>
            </a:r>
            <a:r>
              <a:rPr lang="pl-PL" dirty="0" err="1">
                <a:solidFill>
                  <a:schemeClr val="bg1"/>
                </a:solidFill>
              </a:rPr>
              <a:t>is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your</a:t>
            </a:r>
            <a:r>
              <a:rPr lang="pl-PL" dirty="0">
                <a:solidFill>
                  <a:schemeClr val="bg1"/>
                </a:solidFill>
              </a:rPr>
              <a:t> </a:t>
            </a:r>
            <a:r>
              <a:rPr lang="pl-PL" dirty="0" err="1">
                <a:solidFill>
                  <a:schemeClr val="bg1"/>
                </a:solidFill>
              </a:rPr>
              <a:t>corespondent</a:t>
            </a: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90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24A455-5620-F6EB-442B-C9D12B3A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021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sp5gw@hotmail.com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10558</TotalTime>
  <Words>398</Words>
  <Application>Microsoft Office PowerPoint</Application>
  <PresentationFormat>Panoramiczny</PresentationFormat>
  <Paragraphs>46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Motyw pakietu Office</vt:lpstr>
      <vt:lpstr>RTTY Contesting</vt:lpstr>
      <vt:lpstr>MMTTY Setup (1)</vt:lpstr>
      <vt:lpstr>MMTTY Setup (2)</vt:lpstr>
      <vt:lpstr>MMTTY Setup (3)</vt:lpstr>
      <vt:lpstr>Integration FT-710 – MMTTY - N1MM Logger</vt:lpstr>
      <vt:lpstr>N1MM Database Configurator Contest used as illustration: CQ WW RTTY</vt:lpstr>
      <vt:lpstr>Tunning to the station</vt:lpstr>
      <vt:lpstr>Responding to CQ</vt:lpstr>
      <vt:lpstr>Calling CQ</vt:lpstr>
      <vt:lpstr>Thank you! sp5gw@hotmail.com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andrzej mazur</dc:creator>
  <cp:lastModifiedBy>andrzej mazur</cp:lastModifiedBy>
  <cp:revision>27</cp:revision>
  <dcterms:created xsi:type="dcterms:W3CDTF">2026-09-27T06:36:22Z</dcterms:created>
  <dcterms:modified xsi:type="dcterms:W3CDTF">2026-10-18T14:39:06Z</dcterms:modified>
</cp:coreProperties>
</file>